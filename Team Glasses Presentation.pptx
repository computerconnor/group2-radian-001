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0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D194A0-2914-789E-A9DA-C96565743664}" v="474" dt="2025-12-01T04:27:36.159"/>
    <p1510:client id="{13DA1F31-66B6-4B90-AF06-6554C6F864DB}" v="1866" dt="2025-12-01T02:30:08.347"/>
    <p1510:client id="{247E0339-8C8E-4AFB-86FA-F55A21C804E6}" v="3257" dt="2025-12-01T10:18:13.399"/>
    <p1510:client id="{C42E36EF-B162-74F6-FBD3-DCAE277A5AE8}" v="966" dt="2025-12-01T05:32:27.952"/>
    <p1510:client id="{CCB6EB85-C526-7336-CC6E-06E41A73A5CD}" v="504" dt="2025-12-01T02:34:28.0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711A8D-FC32-406E-97C9-205776F2288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0B9A45-A35A-4ED8-9350-086DC05B65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2200"/>
            <a:t>Exists in the form of 1-D or 2-D matrices</a:t>
          </a:r>
        </a:p>
      </dgm:t>
    </dgm:pt>
    <dgm:pt modelId="{0CD5BFC7-307D-40FF-936F-95E5813F5DC7}" type="parTrans" cxnId="{226638C4-B2A6-4942-9023-8787FBBE8EDA}">
      <dgm:prSet/>
      <dgm:spPr/>
      <dgm:t>
        <a:bodyPr/>
        <a:lstStyle/>
        <a:p>
          <a:endParaRPr lang="en-US"/>
        </a:p>
      </dgm:t>
    </dgm:pt>
    <dgm:pt modelId="{7991AC98-E0C3-4955-A901-A9FD7EA74A29}" type="sibTrans" cxnId="{226638C4-B2A6-4942-9023-8787FBBE8ED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EC52C11-4CCA-4734-B632-C035A3D288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2200" dirty="0"/>
            <a:t>Generated using Python’s NumPy library</a:t>
          </a:r>
        </a:p>
      </dgm:t>
    </dgm:pt>
    <dgm:pt modelId="{E2345EE8-7EDB-4AA6-B14D-F3A9A657EAAC}" type="parTrans" cxnId="{F46B2768-57E4-44DE-BCBE-6B134840C3FB}">
      <dgm:prSet/>
      <dgm:spPr/>
      <dgm:t>
        <a:bodyPr/>
        <a:lstStyle/>
        <a:p>
          <a:endParaRPr lang="en-US"/>
        </a:p>
      </dgm:t>
    </dgm:pt>
    <dgm:pt modelId="{3B4B6413-39C0-4391-A1D3-B59015E0CED4}" type="sibTrans" cxnId="{F46B2768-57E4-44DE-BCBE-6B134840C3F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3C86212-5E83-462D-915D-5CB5AB9545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2200"/>
            <a:t>Synthetic data provides a realistically-varied dataset, very customizable and easy to create</a:t>
          </a:r>
        </a:p>
      </dgm:t>
    </dgm:pt>
    <dgm:pt modelId="{F6F56277-9535-4394-8813-BA2E85380204}" type="parTrans" cxnId="{06D3F479-5721-4DEF-931A-2C1B31FF0892}">
      <dgm:prSet/>
      <dgm:spPr/>
      <dgm:t>
        <a:bodyPr/>
        <a:lstStyle/>
        <a:p>
          <a:endParaRPr lang="en-US"/>
        </a:p>
      </dgm:t>
    </dgm:pt>
    <dgm:pt modelId="{3C7A79D3-D55A-4030-A8A6-4EFA200BD7A2}" type="sibTrans" cxnId="{06D3F479-5721-4DEF-931A-2C1B31FF089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154982E-3988-4300-9E2A-0B033B8600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2200" dirty="0"/>
            <a:t>Ideal for program testing</a:t>
          </a:r>
        </a:p>
      </dgm:t>
    </dgm:pt>
    <dgm:pt modelId="{AA675DD7-DC1E-4983-86BB-6A5D455B4F14}" type="parTrans" cxnId="{D54B6048-A0E1-4DC5-BFEE-6A801B63A346}">
      <dgm:prSet/>
      <dgm:spPr/>
      <dgm:t>
        <a:bodyPr/>
        <a:lstStyle/>
        <a:p>
          <a:endParaRPr lang="en-US"/>
        </a:p>
      </dgm:t>
    </dgm:pt>
    <dgm:pt modelId="{2C966D64-5470-4167-ADF0-37A7652333BA}" type="sibTrans" cxnId="{D54B6048-A0E1-4DC5-BFEE-6A801B63A346}">
      <dgm:prSet/>
      <dgm:spPr/>
      <dgm:t>
        <a:bodyPr/>
        <a:lstStyle/>
        <a:p>
          <a:endParaRPr lang="en-US"/>
        </a:p>
      </dgm:t>
    </dgm:pt>
    <dgm:pt modelId="{70DFB72D-D58B-4814-866E-76E40E26D166}" type="pres">
      <dgm:prSet presAssocID="{B9711A8D-FC32-406E-97C9-205776F2288C}" presName="root" presStyleCnt="0">
        <dgm:presLayoutVars>
          <dgm:dir/>
          <dgm:resizeHandles val="exact"/>
        </dgm:presLayoutVars>
      </dgm:prSet>
      <dgm:spPr/>
    </dgm:pt>
    <dgm:pt modelId="{6C59E130-7455-44F7-8375-586151FCE87C}" type="pres">
      <dgm:prSet presAssocID="{B9711A8D-FC32-406E-97C9-205776F2288C}" presName="container" presStyleCnt="0">
        <dgm:presLayoutVars>
          <dgm:dir/>
          <dgm:resizeHandles val="exact"/>
        </dgm:presLayoutVars>
      </dgm:prSet>
      <dgm:spPr/>
    </dgm:pt>
    <dgm:pt modelId="{83BBDF6B-E762-4B69-9436-59340104C43E}" type="pres">
      <dgm:prSet presAssocID="{240B9A45-A35A-4ED8-9350-086DC05B65E6}" presName="compNode" presStyleCnt="0"/>
      <dgm:spPr/>
    </dgm:pt>
    <dgm:pt modelId="{AF1E7440-EEC3-49BB-A6A3-E099A076F634}" type="pres">
      <dgm:prSet presAssocID="{240B9A45-A35A-4ED8-9350-086DC05B65E6}" presName="iconBgRect" presStyleLbl="bgShp" presStyleIdx="0" presStyleCnt="4"/>
      <dgm:spPr/>
    </dgm:pt>
    <dgm:pt modelId="{0FA19FBF-8C7A-451E-9138-1610367218E1}" type="pres">
      <dgm:prSet presAssocID="{240B9A45-A35A-4ED8-9350-086DC05B65E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E329AA0-BCB0-4711-A57B-6A3536DD012F}" type="pres">
      <dgm:prSet presAssocID="{240B9A45-A35A-4ED8-9350-086DC05B65E6}" presName="spaceRect" presStyleCnt="0"/>
      <dgm:spPr/>
    </dgm:pt>
    <dgm:pt modelId="{AC9B7819-CCB7-459B-943C-8251166FA572}" type="pres">
      <dgm:prSet presAssocID="{240B9A45-A35A-4ED8-9350-086DC05B65E6}" presName="textRect" presStyleLbl="revTx" presStyleIdx="0" presStyleCnt="4">
        <dgm:presLayoutVars>
          <dgm:chMax val="1"/>
          <dgm:chPref val="1"/>
        </dgm:presLayoutVars>
      </dgm:prSet>
      <dgm:spPr/>
    </dgm:pt>
    <dgm:pt modelId="{5EF12A73-A587-4083-8694-D436A1098B96}" type="pres">
      <dgm:prSet presAssocID="{7991AC98-E0C3-4955-A901-A9FD7EA74A29}" presName="sibTrans" presStyleLbl="sibTrans2D1" presStyleIdx="0" presStyleCnt="0"/>
      <dgm:spPr/>
    </dgm:pt>
    <dgm:pt modelId="{22A03804-2A97-47F0-A3DA-6059EF119C68}" type="pres">
      <dgm:prSet presAssocID="{9EC52C11-4CCA-4734-B632-C035A3D2886F}" presName="compNode" presStyleCnt="0"/>
      <dgm:spPr/>
    </dgm:pt>
    <dgm:pt modelId="{B4E8A015-0613-46DC-9C01-5555FACD9574}" type="pres">
      <dgm:prSet presAssocID="{9EC52C11-4CCA-4734-B632-C035A3D2886F}" presName="iconBgRect" presStyleLbl="bgShp" presStyleIdx="1" presStyleCnt="4"/>
      <dgm:spPr/>
    </dgm:pt>
    <dgm:pt modelId="{58F103CC-E3E2-4DCF-84DB-A3877A1DD92A}" type="pres">
      <dgm:prSet presAssocID="{9EC52C11-4CCA-4734-B632-C035A3D2886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C5BF7D0-D69D-4137-BED4-E1C546E87F08}" type="pres">
      <dgm:prSet presAssocID="{9EC52C11-4CCA-4734-B632-C035A3D2886F}" presName="spaceRect" presStyleCnt="0"/>
      <dgm:spPr/>
    </dgm:pt>
    <dgm:pt modelId="{CDDD66B6-A991-441D-84E0-4A8ABEB6CE30}" type="pres">
      <dgm:prSet presAssocID="{9EC52C11-4CCA-4734-B632-C035A3D2886F}" presName="textRect" presStyleLbl="revTx" presStyleIdx="1" presStyleCnt="4">
        <dgm:presLayoutVars>
          <dgm:chMax val="1"/>
          <dgm:chPref val="1"/>
        </dgm:presLayoutVars>
      </dgm:prSet>
      <dgm:spPr/>
    </dgm:pt>
    <dgm:pt modelId="{4C50A4C4-7A1D-476A-A1E7-0533AEA5D8FA}" type="pres">
      <dgm:prSet presAssocID="{3B4B6413-39C0-4391-A1D3-B59015E0CED4}" presName="sibTrans" presStyleLbl="sibTrans2D1" presStyleIdx="0" presStyleCnt="0"/>
      <dgm:spPr/>
    </dgm:pt>
    <dgm:pt modelId="{20CE849E-6412-4DC2-81E0-CFC8CAB68D97}" type="pres">
      <dgm:prSet presAssocID="{13C86212-5E83-462D-915D-5CB5AB9545E9}" presName="compNode" presStyleCnt="0"/>
      <dgm:spPr/>
    </dgm:pt>
    <dgm:pt modelId="{A196D19A-9E8C-4017-82D8-AA660C50624E}" type="pres">
      <dgm:prSet presAssocID="{13C86212-5E83-462D-915D-5CB5AB9545E9}" presName="iconBgRect" presStyleLbl="bgShp" presStyleIdx="2" presStyleCnt="4"/>
      <dgm:spPr/>
    </dgm:pt>
    <dgm:pt modelId="{4D892F19-D0BB-424C-9B96-8E00244F965D}" type="pres">
      <dgm:prSet presAssocID="{13C86212-5E83-462D-915D-5CB5AB9545E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F9F459F-811A-4E09-9A88-7332879C3FC6}" type="pres">
      <dgm:prSet presAssocID="{13C86212-5E83-462D-915D-5CB5AB9545E9}" presName="spaceRect" presStyleCnt="0"/>
      <dgm:spPr/>
    </dgm:pt>
    <dgm:pt modelId="{3D9B98F3-5723-4501-A625-4F3C80808502}" type="pres">
      <dgm:prSet presAssocID="{13C86212-5E83-462D-915D-5CB5AB9545E9}" presName="textRect" presStyleLbl="revTx" presStyleIdx="2" presStyleCnt="4">
        <dgm:presLayoutVars>
          <dgm:chMax val="1"/>
          <dgm:chPref val="1"/>
        </dgm:presLayoutVars>
      </dgm:prSet>
      <dgm:spPr/>
    </dgm:pt>
    <dgm:pt modelId="{C38BAB6F-EA06-40B9-B6FF-EA793B4C9F21}" type="pres">
      <dgm:prSet presAssocID="{3C7A79D3-D55A-4030-A8A6-4EFA200BD7A2}" presName="sibTrans" presStyleLbl="sibTrans2D1" presStyleIdx="0" presStyleCnt="0"/>
      <dgm:spPr/>
    </dgm:pt>
    <dgm:pt modelId="{DA45DDFC-AF60-48BB-8FAF-D87362AFC38D}" type="pres">
      <dgm:prSet presAssocID="{B154982E-3988-4300-9E2A-0B033B860017}" presName="compNode" presStyleCnt="0"/>
      <dgm:spPr/>
    </dgm:pt>
    <dgm:pt modelId="{A15E4504-5648-488B-B1C0-725BEE5D7F9B}" type="pres">
      <dgm:prSet presAssocID="{B154982E-3988-4300-9E2A-0B033B860017}" presName="iconBgRect" presStyleLbl="bgShp" presStyleIdx="3" presStyleCnt="4"/>
      <dgm:spPr/>
    </dgm:pt>
    <dgm:pt modelId="{D72FFF78-DF0C-412E-8F00-782503AF82EF}" type="pres">
      <dgm:prSet presAssocID="{B154982E-3988-4300-9E2A-0B033B86001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C38BA26-4FBA-4DCA-8736-F03BC6BD6FA7}" type="pres">
      <dgm:prSet presAssocID="{B154982E-3988-4300-9E2A-0B033B860017}" presName="spaceRect" presStyleCnt="0"/>
      <dgm:spPr/>
    </dgm:pt>
    <dgm:pt modelId="{5C504212-3BEE-4778-8FE4-EC9DA0D2CBDE}" type="pres">
      <dgm:prSet presAssocID="{B154982E-3988-4300-9E2A-0B033B86001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2B753A-6B53-4B8B-9598-70F4F7119EB9}" type="presOf" srcId="{7991AC98-E0C3-4955-A901-A9FD7EA74A29}" destId="{5EF12A73-A587-4083-8694-D436A1098B96}" srcOrd="0" destOrd="0" presId="urn:microsoft.com/office/officeart/2018/2/layout/IconCircleList"/>
    <dgm:cxn modelId="{5215993E-83A3-412C-82DF-00DA94B25B4B}" type="presOf" srcId="{13C86212-5E83-462D-915D-5CB5AB9545E9}" destId="{3D9B98F3-5723-4501-A625-4F3C80808502}" srcOrd="0" destOrd="0" presId="urn:microsoft.com/office/officeart/2018/2/layout/IconCircleList"/>
    <dgm:cxn modelId="{F46B2768-57E4-44DE-BCBE-6B134840C3FB}" srcId="{B9711A8D-FC32-406E-97C9-205776F2288C}" destId="{9EC52C11-4CCA-4734-B632-C035A3D2886F}" srcOrd="1" destOrd="0" parTransId="{E2345EE8-7EDB-4AA6-B14D-F3A9A657EAAC}" sibTransId="{3B4B6413-39C0-4391-A1D3-B59015E0CED4}"/>
    <dgm:cxn modelId="{D54B6048-A0E1-4DC5-BFEE-6A801B63A346}" srcId="{B9711A8D-FC32-406E-97C9-205776F2288C}" destId="{B154982E-3988-4300-9E2A-0B033B860017}" srcOrd="3" destOrd="0" parTransId="{AA675DD7-DC1E-4983-86BB-6A5D455B4F14}" sibTransId="{2C966D64-5470-4167-ADF0-37A7652333BA}"/>
    <dgm:cxn modelId="{8D91D04E-08A2-43B2-A599-2D64ED2CCB1E}" type="presOf" srcId="{B9711A8D-FC32-406E-97C9-205776F2288C}" destId="{70DFB72D-D58B-4814-866E-76E40E26D166}" srcOrd="0" destOrd="0" presId="urn:microsoft.com/office/officeart/2018/2/layout/IconCircleList"/>
    <dgm:cxn modelId="{1E441478-C099-4CBF-8DE7-E9427E2DEDAB}" type="presOf" srcId="{3C7A79D3-D55A-4030-A8A6-4EFA200BD7A2}" destId="{C38BAB6F-EA06-40B9-B6FF-EA793B4C9F21}" srcOrd="0" destOrd="0" presId="urn:microsoft.com/office/officeart/2018/2/layout/IconCircleList"/>
    <dgm:cxn modelId="{06D3F479-5721-4DEF-931A-2C1B31FF0892}" srcId="{B9711A8D-FC32-406E-97C9-205776F2288C}" destId="{13C86212-5E83-462D-915D-5CB5AB9545E9}" srcOrd="2" destOrd="0" parTransId="{F6F56277-9535-4394-8813-BA2E85380204}" sibTransId="{3C7A79D3-D55A-4030-A8A6-4EFA200BD7A2}"/>
    <dgm:cxn modelId="{AF03D6A0-FC71-49C2-8E15-9A110CE0E8FB}" type="presOf" srcId="{240B9A45-A35A-4ED8-9350-086DC05B65E6}" destId="{AC9B7819-CCB7-459B-943C-8251166FA572}" srcOrd="0" destOrd="0" presId="urn:microsoft.com/office/officeart/2018/2/layout/IconCircleList"/>
    <dgm:cxn modelId="{CC82E1A1-73D5-46CA-832D-8BE8987170A4}" type="presOf" srcId="{3B4B6413-39C0-4391-A1D3-B59015E0CED4}" destId="{4C50A4C4-7A1D-476A-A1E7-0533AEA5D8FA}" srcOrd="0" destOrd="0" presId="urn:microsoft.com/office/officeart/2018/2/layout/IconCircleList"/>
    <dgm:cxn modelId="{3FFA5DA7-1759-4E46-8162-96142AF6F43E}" type="presOf" srcId="{9EC52C11-4CCA-4734-B632-C035A3D2886F}" destId="{CDDD66B6-A991-441D-84E0-4A8ABEB6CE30}" srcOrd="0" destOrd="0" presId="urn:microsoft.com/office/officeart/2018/2/layout/IconCircleList"/>
    <dgm:cxn modelId="{226638C4-B2A6-4942-9023-8787FBBE8EDA}" srcId="{B9711A8D-FC32-406E-97C9-205776F2288C}" destId="{240B9A45-A35A-4ED8-9350-086DC05B65E6}" srcOrd="0" destOrd="0" parTransId="{0CD5BFC7-307D-40FF-936F-95E5813F5DC7}" sibTransId="{7991AC98-E0C3-4955-A901-A9FD7EA74A29}"/>
    <dgm:cxn modelId="{761F3CDB-706C-4B90-A956-F1866E5E477B}" type="presOf" srcId="{B154982E-3988-4300-9E2A-0B033B860017}" destId="{5C504212-3BEE-4778-8FE4-EC9DA0D2CBDE}" srcOrd="0" destOrd="0" presId="urn:microsoft.com/office/officeart/2018/2/layout/IconCircleList"/>
    <dgm:cxn modelId="{E764D345-698D-483D-804B-F311DEDCA201}" type="presParOf" srcId="{70DFB72D-D58B-4814-866E-76E40E26D166}" destId="{6C59E130-7455-44F7-8375-586151FCE87C}" srcOrd="0" destOrd="0" presId="urn:microsoft.com/office/officeart/2018/2/layout/IconCircleList"/>
    <dgm:cxn modelId="{7932C0D2-FA45-4AA0-AAEE-F30BB8562989}" type="presParOf" srcId="{6C59E130-7455-44F7-8375-586151FCE87C}" destId="{83BBDF6B-E762-4B69-9436-59340104C43E}" srcOrd="0" destOrd="0" presId="urn:microsoft.com/office/officeart/2018/2/layout/IconCircleList"/>
    <dgm:cxn modelId="{D178A5F4-EB3E-430D-9062-4F7FE387A3C0}" type="presParOf" srcId="{83BBDF6B-E762-4B69-9436-59340104C43E}" destId="{AF1E7440-EEC3-49BB-A6A3-E099A076F634}" srcOrd="0" destOrd="0" presId="urn:microsoft.com/office/officeart/2018/2/layout/IconCircleList"/>
    <dgm:cxn modelId="{5A99AC23-949A-410D-9255-A0F5F00D344B}" type="presParOf" srcId="{83BBDF6B-E762-4B69-9436-59340104C43E}" destId="{0FA19FBF-8C7A-451E-9138-1610367218E1}" srcOrd="1" destOrd="0" presId="urn:microsoft.com/office/officeart/2018/2/layout/IconCircleList"/>
    <dgm:cxn modelId="{ECF543D5-C308-4D95-B379-088E01BBDC1F}" type="presParOf" srcId="{83BBDF6B-E762-4B69-9436-59340104C43E}" destId="{2E329AA0-BCB0-4711-A57B-6A3536DD012F}" srcOrd="2" destOrd="0" presId="urn:microsoft.com/office/officeart/2018/2/layout/IconCircleList"/>
    <dgm:cxn modelId="{263ED612-39F9-4513-BC93-1829C7FA6E57}" type="presParOf" srcId="{83BBDF6B-E762-4B69-9436-59340104C43E}" destId="{AC9B7819-CCB7-459B-943C-8251166FA572}" srcOrd="3" destOrd="0" presId="urn:microsoft.com/office/officeart/2018/2/layout/IconCircleList"/>
    <dgm:cxn modelId="{4131E778-5879-429A-B9B1-C8C341A71B11}" type="presParOf" srcId="{6C59E130-7455-44F7-8375-586151FCE87C}" destId="{5EF12A73-A587-4083-8694-D436A1098B96}" srcOrd="1" destOrd="0" presId="urn:microsoft.com/office/officeart/2018/2/layout/IconCircleList"/>
    <dgm:cxn modelId="{E91952D1-83E1-4E38-B383-D75D43AEBCA8}" type="presParOf" srcId="{6C59E130-7455-44F7-8375-586151FCE87C}" destId="{22A03804-2A97-47F0-A3DA-6059EF119C68}" srcOrd="2" destOrd="0" presId="urn:microsoft.com/office/officeart/2018/2/layout/IconCircleList"/>
    <dgm:cxn modelId="{7B257AAF-9BE5-4BBF-A078-0B69A6CC567B}" type="presParOf" srcId="{22A03804-2A97-47F0-A3DA-6059EF119C68}" destId="{B4E8A015-0613-46DC-9C01-5555FACD9574}" srcOrd="0" destOrd="0" presId="urn:microsoft.com/office/officeart/2018/2/layout/IconCircleList"/>
    <dgm:cxn modelId="{6314CFF4-4DDD-4A19-B884-2EF3E2940F38}" type="presParOf" srcId="{22A03804-2A97-47F0-A3DA-6059EF119C68}" destId="{58F103CC-E3E2-4DCF-84DB-A3877A1DD92A}" srcOrd="1" destOrd="0" presId="urn:microsoft.com/office/officeart/2018/2/layout/IconCircleList"/>
    <dgm:cxn modelId="{CB0584BE-035F-47D6-AB86-813FB4BC386C}" type="presParOf" srcId="{22A03804-2A97-47F0-A3DA-6059EF119C68}" destId="{FC5BF7D0-D69D-4137-BED4-E1C546E87F08}" srcOrd="2" destOrd="0" presId="urn:microsoft.com/office/officeart/2018/2/layout/IconCircleList"/>
    <dgm:cxn modelId="{236A0303-D79E-409D-B409-338320ED7198}" type="presParOf" srcId="{22A03804-2A97-47F0-A3DA-6059EF119C68}" destId="{CDDD66B6-A991-441D-84E0-4A8ABEB6CE30}" srcOrd="3" destOrd="0" presId="urn:microsoft.com/office/officeart/2018/2/layout/IconCircleList"/>
    <dgm:cxn modelId="{D81D3FF7-5C9B-4179-9C66-F140F31EF541}" type="presParOf" srcId="{6C59E130-7455-44F7-8375-586151FCE87C}" destId="{4C50A4C4-7A1D-476A-A1E7-0533AEA5D8FA}" srcOrd="3" destOrd="0" presId="urn:microsoft.com/office/officeart/2018/2/layout/IconCircleList"/>
    <dgm:cxn modelId="{E8406601-B63E-4471-8FA6-3187613273E9}" type="presParOf" srcId="{6C59E130-7455-44F7-8375-586151FCE87C}" destId="{20CE849E-6412-4DC2-81E0-CFC8CAB68D97}" srcOrd="4" destOrd="0" presId="urn:microsoft.com/office/officeart/2018/2/layout/IconCircleList"/>
    <dgm:cxn modelId="{9CBDEA22-D644-4316-9A42-34E8DAC8F2A7}" type="presParOf" srcId="{20CE849E-6412-4DC2-81E0-CFC8CAB68D97}" destId="{A196D19A-9E8C-4017-82D8-AA660C50624E}" srcOrd="0" destOrd="0" presId="urn:microsoft.com/office/officeart/2018/2/layout/IconCircleList"/>
    <dgm:cxn modelId="{A6657EFA-2283-45C4-A888-37277F0E6190}" type="presParOf" srcId="{20CE849E-6412-4DC2-81E0-CFC8CAB68D97}" destId="{4D892F19-D0BB-424C-9B96-8E00244F965D}" srcOrd="1" destOrd="0" presId="urn:microsoft.com/office/officeart/2018/2/layout/IconCircleList"/>
    <dgm:cxn modelId="{AD522C94-6574-430E-B50A-E75C101D2613}" type="presParOf" srcId="{20CE849E-6412-4DC2-81E0-CFC8CAB68D97}" destId="{7F9F459F-811A-4E09-9A88-7332879C3FC6}" srcOrd="2" destOrd="0" presId="urn:microsoft.com/office/officeart/2018/2/layout/IconCircleList"/>
    <dgm:cxn modelId="{0513A68D-F198-4F2C-8059-E76842913C14}" type="presParOf" srcId="{20CE849E-6412-4DC2-81E0-CFC8CAB68D97}" destId="{3D9B98F3-5723-4501-A625-4F3C80808502}" srcOrd="3" destOrd="0" presId="urn:microsoft.com/office/officeart/2018/2/layout/IconCircleList"/>
    <dgm:cxn modelId="{4721C925-6101-4418-8E2E-F83E40263403}" type="presParOf" srcId="{6C59E130-7455-44F7-8375-586151FCE87C}" destId="{C38BAB6F-EA06-40B9-B6FF-EA793B4C9F21}" srcOrd="5" destOrd="0" presId="urn:microsoft.com/office/officeart/2018/2/layout/IconCircleList"/>
    <dgm:cxn modelId="{E6E94A74-A056-467F-8A98-D765DB39C2B5}" type="presParOf" srcId="{6C59E130-7455-44F7-8375-586151FCE87C}" destId="{DA45DDFC-AF60-48BB-8FAF-D87362AFC38D}" srcOrd="6" destOrd="0" presId="urn:microsoft.com/office/officeart/2018/2/layout/IconCircleList"/>
    <dgm:cxn modelId="{74FB583B-392E-48DE-9DF8-0DF9513B7DC1}" type="presParOf" srcId="{DA45DDFC-AF60-48BB-8FAF-D87362AFC38D}" destId="{A15E4504-5648-488B-B1C0-725BEE5D7F9B}" srcOrd="0" destOrd="0" presId="urn:microsoft.com/office/officeart/2018/2/layout/IconCircleList"/>
    <dgm:cxn modelId="{67CEA62E-0C32-4FF2-9B75-E5923A9BA6E0}" type="presParOf" srcId="{DA45DDFC-AF60-48BB-8FAF-D87362AFC38D}" destId="{D72FFF78-DF0C-412E-8F00-782503AF82EF}" srcOrd="1" destOrd="0" presId="urn:microsoft.com/office/officeart/2018/2/layout/IconCircleList"/>
    <dgm:cxn modelId="{595F88CF-F0E0-4A4A-9596-BBA2E5392563}" type="presParOf" srcId="{DA45DDFC-AF60-48BB-8FAF-D87362AFC38D}" destId="{9C38BA26-4FBA-4DCA-8736-F03BC6BD6FA7}" srcOrd="2" destOrd="0" presId="urn:microsoft.com/office/officeart/2018/2/layout/IconCircleList"/>
    <dgm:cxn modelId="{6D7F2CF9-D87C-434D-AF79-986674C61434}" type="presParOf" srcId="{DA45DDFC-AF60-48BB-8FAF-D87362AFC38D}" destId="{5C504212-3BEE-4778-8FE4-EC9DA0D2CBD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E7440-EEC3-49BB-A6A3-E099A076F634}">
      <dsp:nvSpPr>
        <dsp:cNvPr id="0" name=""/>
        <dsp:cNvSpPr/>
      </dsp:nvSpPr>
      <dsp:spPr>
        <a:xfrm>
          <a:off x="108988" y="13968"/>
          <a:ext cx="1282574" cy="12825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A19FBF-8C7A-451E-9138-1610367218E1}">
      <dsp:nvSpPr>
        <dsp:cNvPr id="0" name=""/>
        <dsp:cNvSpPr/>
      </dsp:nvSpPr>
      <dsp:spPr>
        <a:xfrm>
          <a:off x="378329" y="283309"/>
          <a:ext cx="743893" cy="7438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9B7819-CCB7-459B-943C-8251166FA572}">
      <dsp:nvSpPr>
        <dsp:cNvPr id="0" name=""/>
        <dsp:cNvSpPr/>
      </dsp:nvSpPr>
      <dsp:spPr>
        <a:xfrm>
          <a:off x="1666401" y="13968"/>
          <a:ext cx="3023212" cy="1282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Exists in the form of 1-D or 2-D matrices</a:t>
          </a:r>
        </a:p>
      </dsp:txBody>
      <dsp:txXfrm>
        <a:off x="1666401" y="13968"/>
        <a:ext cx="3023212" cy="1282574"/>
      </dsp:txXfrm>
    </dsp:sp>
    <dsp:sp modelId="{B4E8A015-0613-46DC-9C01-5555FACD9574}">
      <dsp:nvSpPr>
        <dsp:cNvPr id="0" name=""/>
        <dsp:cNvSpPr/>
      </dsp:nvSpPr>
      <dsp:spPr>
        <a:xfrm>
          <a:off x="5216384" y="13968"/>
          <a:ext cx="1282574" cy="12825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F103CC-E3E2-4DCF-84DB-A3877A1DD92A}">
      <dsp:nvSpPr>
        <dsp:cNvPr id="0" name=""/>
        <dsp:cNvSpPr/>
      </dsp:nvSpPr>
      <dsp:spPr>
        <a:xfrm>
          <a:off x="5485725" y="283309"/>
          <a:ext cx="743893" cy="7438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DD66B6-A991-441D-84E0-4A8ABEB6CE30}">
      <dsp:nvSpPr>
        <dsp:cNvPr id="0" name=""/>
        <dsp:cNvSpPr/>
      </dsp:nvSpPr>
      <dsp:spPr>
        <a:xfrm>
          <a:off x="6773797" y="13968"/>
          <a:ext cx="3023212" cy="1282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Generated using Python’s NumPy library</a:t>
          </a:r>
        </a:p>
      </dsp:txBody>
      <dsp:txXfrm>
        <a:off x="6773797" y="13968"/>
        <a:ext cx="3023212" cy="1282574"/>
      </dsp:txXfrm>
    </dsp:sp>
    <dsp:sp modelId="{A196D19A-9E8C-4017-82D8-AA660C50624E}">
      <dsp:nvSpPr>
        <dsp:cNvPr id="0" name=""/>
        <dsp:cNvSpPr/>
      </dsp:nvSpPr>
      <dsp:spPr>
        <a:xfrm>
          <a:off x="108988" y="1827657"/>
          <a:ext cx="1282574" cy="12825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92F19-D0BB-424C-9B96-8E00244F965D}">
      <dsp:nvSpPr>
        <dsp:cNvPr id="0" name=""/>
        <dsp:cNvSpPr/>
      </dsp:nvSpPr>
      <dsp:spPr>
        <a:xfrm>
          <a:off x="378329" y="2096998"/>
          <a:ext cx="743893" cy="7438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B98F3-5723-4501-A625-4F3C80808502}">
      <dsp:nvSpPr>
        <dsp:cNvPr id="0" name=""/>
        <dsp:cNvSpPr/>
      </dsp:nvSpPr>
      <dsp:spPr>
        <a:xfrm>
          <a:off x="1666401" y="1827657"/>
          <a:ext cx="3023212" cy="1282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Synthetic data provides a realistically-varied dataset, very customizable and easy to create</a:t>
          </a:r>
        </a:p>
      </dsp:txBody>
      <dsp:txXfrm>
        <a:off x="1666401" y="1827657"/>
        <a:ext cx="3023212" cy="1282574"/>
      </dsp:txXfrm>
    </dsp:sp>
    <dsp:sp modelId="{A15E4504-5648-488B-B1C0-725BEE5D7F9B}">
      <dsp:nvSpPr>
        <dsp:cNvPr id="0" name=""/>
        <dsp:cNvSpPr/>
      </dsp:nvSpPr>
      <dsp:spPr>
        <a:xfrm>
          <a:off x="5216384" y="1827657"/>
          <a:ext cx="1282574" cy="12825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2FFF78-DF0C-412E-8F00-782503AF82EF}">
      <dsp:nvSpPr>
        <dsp:cNvPr id="0" name=""/>
        <dsp:cNvSpPr/>
      </dsp:nvSpPr>
      <dsp:spPr>
        <a:xfrm>
          <a:off x="5485725" y="2096998"/>
          <a:ext cx="743893" cy="7438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04212-3BEE-4778-8FE4-EC9DA0D2CBDE}">
      <dsp:nvSpPr>
        <dsp:cNvPr id="0" name=""/>
        <dsp:cNvSpPr/>
      </dsp:nvSpPr>
      <dsp:spPr>
        <a:xfrm>
          <a:off x="6773797" y="1827657"/>
          <a:ext cx="3023212" cy="1282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Ideal for program testing</a:t>
          </a:r>
        </a:p>
      </dsp:txBody>
      <dsp:txXfrm>
        <a:off x="6773797" y="1827657"/>
        <a:ext cx="3023212" cy="1282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9160EF-DEB8-41DE-862F-E7CD8C0CFD5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B5091-F82B-4EF4-9276-DDB091C39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17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Lane is slides 5 through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B5091-F82B-4EF4-9276-DDB091C39F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33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Explain the publicly-available datasets and what they measure, what kind of signals are in them, etc.</a:t>
            </a:r>
          </a:p>
          <a:p>
            <a:pPr marL="171450" indent="-171450">
              <a:buFontTx/>
              <a:buChar char="-"/>
            </a:pPr>
            <a:r>
              <a:rPr lang="en-US"/>
              <a:t>Connect the three algorithms to some of them as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B5091-F82B-4EF4-9276-DDB091C39FA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96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Overview of the synthetic dataset generation functions</a:t>
            </a:r>
          </a:p>
          <a:p>
            <a:pPr marL="171450" indent="-171450">
              <a:buFontTx/>
              <a:buChar char="-"/>
            </a:pPr>
            <a:r>
              <a:rPr lang="en-US"/>
              <a:t>Why synthetic datasets are useful for benchmarking a program</a:t>
            </a:r>
          </a:p>
          <a:p>
            <a:pPr marL="171450" indent="-171450">
              <a:buFontTx/>
              <a:buChar char="-"/>
            </a:pPr>
            <a:r>
              <a:rPr lang="en-US"/>
              <a:t>Show used algorithm from final code and result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B5091-F82B-4EF4-9276-DDB091C39F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05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Show charts produced by matplotlib</a:t>
            </a:r>
          </a:p>
          <a:p>
            <a:pPr marL="171450" indent="-171450">
              <a:buFontTx/>
              <a:buChar char="-"/>
            </a:pPr>
            <a:r>
              <a:rPr lang="en-US"/>
              <a:t>Explain relationship of time and input size, demonstrate code</a:t>
            </a:r>
          </a:p>
          <a:p>
            <a:pPr marL="171450" indent="-171450">
              <a:buFontTx/>
              <a:buChar char="-"/>
            </a:pPr>
            <a:r>
              <a:rPr lang="en-US"/>
              <a:t>Explain that the O(</a:t>
            </a:r>
            <a:r>
              <a:rPr lang="en-US" err="1"/>
              <a:t>nlogn</a:t>
            </a:r>
            <a:r>
              <a:rPr lang="en-US"/>
              <a:t>) relationship of the divide and conquer method isn’t really apparent except at higher array sizes that can take multiple minutes to simulate and are similar at a glance to 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B5091-F82B-4EF4-9276-DDB091C39FA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27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Ditto, show that O(n^3) curve is much more obvious at this scale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B5091-F82B-4EF4-9276-DDB091C39FA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50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Our experiments validated the documented behaviors of the methods, as they matched orders of growth closely</a:t>
            </a:r>
          </a:p>
          <a:p>
            <a:pPr marL="171450" indent="-171450">
              <a:buFontTx/>
              <a:buChar char="-"/>
            </a:pPr>
            <a:r>
              <a:rPr lang="en-US"/>
              <a:t>Kanade’s algorithm is generally the most time efficient for a 1D array due to having a linear order of growth</a:t>
            </a:r>
          </a:p>
          <a:p>
            <a:pPr marL="171450" indent="-171450">
              <a:buFontTx/>
              <a:buChar char="-"/>
            </a:pPr>
            <a:r>
              <a:rPr lang="en-US"/>
              <a:t>Reiterate the uses of Kanade’s algorithm in biotech analytics with examples</a:t>
            </a:r>
          </a:p>
          <a:p>
            <a:pPr marL="171450" indent="-171450">
              <a:buFontTx/>
              <a:buChar char="-"/>
            </a:pPr>
            <a:r>
              <a:rPr lang="en-US"/>
              <a:t>Reiterate that Kanade’s algorithm, despite being used in multiple solutions, is not a one-size fits all solution</a:t>
            </a:r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B5091-F82B-4EF4-9276-DDB091C39F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13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527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01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02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98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0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57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07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5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6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8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73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44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47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28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24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5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</a:t>
            </a:r>
          </a:p>
          <a:p>
            <a:pPr lvl="6"/>
            <a:r>
              <a:rPr lang="en-US"/>
              <a:t>Seven</a:t>
            </a:r>
          </a:p>
          <a:p>
            <a:pPr lvl="7"/>
            <a:r>
              <a:rPr lang="en-US"/>
              <a:t>Eight</a:t>
            </a:r>
          </a:p>
          <a:p>
            <a:pPr lvl="8"/>
            <a:r>
              <a:rPr lang="en-US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49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BF162-1CA2-D935-E7D9-E550B1516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9417" y="0"/>
            <a:ext cx="6223821" cy="3642851"/>
          </a:xfrm>
        </p:spPr>
        <p:txBody>
          <a:bodyPr>
            <a:normAutofit/>
          </a:bodyPr>
          <a:lstStyle/>
          <a:p>
            <a:r>
              <a:rPr lang="en-US"/>
              <a:t>Maximum Subarray and Variants - Biotech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D084B-4AAE-0320-8C86-76F082B7E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9416" y="3740834"/>
            <a:ext cx="6223821" cy="179305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Presented by:</a:t>
            </a:r>
          </a:p>
          <a:p>
            <a:pPr>
              <a:lnSpc>
                <a:spcPct val="90000"/>
              </a:lnSpc>
            </a:pPr>
            <a:r>
              <a:rPr lang="en-US" sz="1600"/>
              <a:t>Connor Jordan</a:t>
            </a:r>
            <a:endParaRPr lang="en-US" sz="16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r>
              <a:rPr lang="en-US" sz="1600"/>
              <a:t>Lane Goss</a:t>
            </a:r>
            <a:endParaRPr lang="en-US" sz="16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r>
              <a:rPr lang="en-US" sz="1600"/>
              <a:t>Patrick Galloway</a:t>
            </a:r>
          </a:p>
          <a:p>
            <a:pPr>
              <a:lnSpc>
                <a:spcPct val="90000"/>
              </a:lnSpc>
            </a:pPr>
            <a:r>
              <a:rPr lang="en-US" sz="160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CSC 2400 – Design of Algorithms</a:t>
            </a:r>
          </a:p>
        </p:txBody>
      </p:sp>
      <p:pic>
        <p:nvPicPr>
          <p:cNvPr id="7" name="Graphic 6" descr="DNA">
            <a:extLst>
              <a:ext uri="{FF2B5EF4-FFF2-40B4-BE49-F238E27FC236}">
                <a16:creationId xmlns:a16="http://schemas.microsoft.com/office/drawing/2014/main" id="{12D99EC9-6A36-8FE3-BE52-A205A1079E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999" y="1423793"/>
            <a:ext cx="4001315" cy="4001315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084435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E587-4CD0-85FF-E04E-922254792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905000"/>
          </a:xfrm>
        </p:spPr>
        <p:txBody>
          <a:bodyPr/>
          <a:lstStyle/>
          <a:p>
            <a:r>
              <a:rPr lang="en-US"/>
              <a:t>Maximum Subarray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48B99-0CEA-C29C-6854-10D0BD5D7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04104"/>
            <a:ext cx="9905998" cy="415514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The Problem:</a:t>
            </a:r>
            <a:b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</a:b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 Given a long sequence of numerical values, we need to find the contiguous region with the greatest total strength or intensity.</a:t>
            </a:r>
          </a:p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Why we study it:</a:t>
            </a:r>
            <a:b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</a:b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 It appears in many real scientific and engineering problems that involve analyzing signals.</a:t>
            </a:r>
          </a:p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Our Core Search Questions Going In:</a:t>
            </a:r>
            <a:b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</a:b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 Which of the three algorithms handles the maximum subarray problem </a:t>
            </a:r>
            <a:r>
              <a:rPr lang="en-US" u="sng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most efficiently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?</a:t>
            </a:r>
            <a:b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</a:b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 </a:t>
            </a:r>
            <a:b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</a:b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 Are there cases where a theoretically slower algorithm performs </a:t>
            </a:r>
            <a:r>
              <a:rPr lang="en-US" u="sng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better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on certain inputs?</a:t>
            </a:r>
          </a:p>
        </p:txBody>
      </p:sp>
    </p:spTree>
    <p:extLst>
      <p:ext uri="{BB962C8B-B14F-4D97-AF65-F5344CB8AC3E}">
        <p14:creationId xmlns:p14="http://schemas.microsoft.com/office/powerpoint/2010/main" val="3611864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emical formulas are written on paper">
            <a:extLst>
              <a:ext uri="{FF2B5EF4-FFF2-40B4-BE49-F238E27FC236}">
                <a16:creationId xmlns:a16="http://schemas.microsoft.com/office/drawing/2014/main" id="{DC8B4D8F-CFFF-020D-0C54-CD4C533216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r="-2" b="-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BC40D5-89F0-A81C-A191-0D498C24F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>
            <a:normAutofit/>
          </a:bodyPr>
          <a:lstStyle/>
          <a:p>
            <a:r>
              <a:rPr lang="en-US"/>
              <a:t>Relation To Biotechnology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72649-7788-C2C0-4346-EFC406028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12420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Biological data often form as numerical sequences</a:t>
            </a:r>
          </a:p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Examples:</a:t>
            </a:r>
          </a:p>
          <a:p>
            <a:pPr lvl="1"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Changes in Gene Expression Over Time</a:t>
            </a:r>
          </a:p>
          <a:p>
            <a:pPr lvl="1"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Protein activity or Metabolite Levels during a process</a:t>
            </a:r>
          </a:p>
          <a:p>
            <a:pPr lvl="1"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Regions of the genome with unusually high activity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Maximum Subarray algorithms help reveal these "High-Signal" Regions.</a:t>
            </a:r>
          </a:p>
        </p:txBody>
      </p:sp>
    </p:spTree>
    <p:extLst>
      <p:ext uri="{BB962C8B-B14F-4D97-AF65-F5344CB8AC3E}">
        <p14:creationId xmlns:p14="http://schemas.microsoft.com/office/powerpoint/2010/main" val="1763169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729D2-A150-31C2-BF3F-698F1618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643" y="609600"/>
            <a:ext cx="6743767" cy="1905000"/>
          </a:xfrm>
        </p:spPr>
        <p:txBody>
          <a:bodyPr>
            <a:normAutofit/>
          </a:bodyPr>
          <a:lstStyle/>
          <a:p>
            <a:r>
              <a:rPr lang="en-US"/>
              <a:t>Why This Matters in Biotech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7B91CE02-3122-84DC-C384-846BE9F718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01" r="51582" b="-3"/>
          <a:stretch>
            <a:fillRect/>
          </a:stretch>
        </p:blipFill>
        <p:spPr>
          <a:xfrm>
            <a:off x="257590" y="10"/>
            <a:ext cx="3479523" cy="6857990"/>
          </a:xfrm>
          <a:prstGeom prst="rect">
            <a:avLst/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20B88-3273-6F82-A2C8-ECC9B9D75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643" y="2666999"/>
            <a:ext cx="7046844" cy="341574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/>
              <a:t>Biological Data can be huge</a:t>
            </a: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We need fast efficient ways to find important regions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Three main approaches:</a:t>
            </a: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Divide &amp; Conquer</a:t>
            </a: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Greedy (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Kadane's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Algorithm)</a:t>
            </a: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2D Dynamic Programming</a:t>
            </a: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These methods differ in speed and what types of biological data they work best for, and we'll walk through each of them.</a:t>
            </a:r>
          </a:p>
          <a:p>
            <a:pPr lvl="1">
              <a:lnSpc>
                <a:spcPct val="90000"/>
              </a:lnSpc>
              <a:buClr>
                <a:srgbClr val="FFFFFF"/>
              </a:buClr>
              <a:buFont typeface="Courier New"/>
              <a:buChar char="o"/>
            </a:pPr>
            <a:endParaRPr lang="en-US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375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94680-8A49-0698-C62E-6F1857774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643" y="609600"/>
            <a:ext cx="6743767" cy="1905000"/>
          </a:xfrm>
        </p:spPr>
        <p:txBody>
          <a:bodyPr>
            <a:normAutofit/>
          </a:bodyPr>
          <a:lstStyle/>
          <a:p>
            <a:r>
              <a:rPr lang="en-US"/>
              <a:t>Divide-and-Conquer Method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35F005-3285-495C-6D45-272D32BA71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328" r="43133"/>
          <a:stretch>
            <a:fillRect/>
          </a:stretch>
        </p:blipFill>
        <p:spPr>
          <a:xfrm>
            <a:off x="257590" y="10"/>
            <a:ext cx="3479523" cy="6857990"/>
          </a:xfrm>
          <a:prstGeom prst="rect">
            <a:avLst/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5CD0D-9D80-2C06-A26B-61EAE8237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643" y="2666999"/>
            <a:ext cx="7046844" cy="341574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/>
              <a:t>Divide and Conquer algorithm has a cycle:</a:t>
            </a:r>
          </a:p>
          <a:p>
            <a:r>
              <a:rPr lang="en-US"/>
              <a:t>Divide: splits a problem into several sub-problems</a:t>
            </a:r>
          </a:p>
          <a:p>
            <a:r>
              <a:rPr lang="en-US"/>
              <a:t>Conquer: Subproblems are solved recursively. They attempt to be solved directly, but if not, they are broken down further</a:t>
            </a:r>
          </a:p>
          <a:p>
            <a:r>
              <a:rPr lang="en-US"/>
              <a:t>Combine: The solutions to the subproblems are merged or combined to form the solution to the original problem</a:t>
            </a:r>
          </a:p>
        </p:txBody>
      </p:sp>
    </p:spTree>
    <p:extLst>
      <p:ext uri="{BB962C8B-B14F-4D97-AF65-F5344CB8AC3E}">
        <p14:creationId xmlns:p14="http://schemas.microsoft.com/office/powerpoint/2010/main" val="3719378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019EF-EFA2-88ED-14D6-71F44B24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5" y="609600"/>
            <a:ext cx="5122606" cy="1905000"/>
          </a:xfrm>
        </p:spPr>
        <p:txBody>
          <a:bodyPr>
            <a:normAutofit/>
          </a:bodyPr>
          <a:lstStyle/>
          <a:p>
            <a:r>
              <a:rPr lang="en-US"/>
              <a:t>Greedy (</a:t>
            </a:r>
            <a:r>
              <a:rPr lang="en-US" err="1"/>
              <a:t>Kadane's</a:t>
            </a:r>
            <a:r>
              <a:rPr lang="en-US"/>
              <a:t> Algorithm)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F2FC1-F48E-883E-B10D-AFF83BDD7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5" y="2666999"/>
            <a:ext cx="5122606" cy="32162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/>
              <a:t>Greedy algorithm makes local choices in hopes that it will lead to a globally optimal solution. It can be boiled down to the following points:</a:t>
            </a:r>
          </a:p>
          <a:p>
            <a:pPr>
              <a:lnSpc>
                <a:spcPct val="90000"/>
              </a:lnSpc>
            </a:pPr>
            <a:r>
              <a:rPr lang="en-US" sz="1700"/>
              <a:t>Short-sighted: It never reconsiders its past decisions</a:t>
            </a:r>
          </a:p>
          <a:p>
            <a:pPr>
              <a:lnSpc>
                <a:spcPct val="90000"/>
              </a:lnSpc>
            </a:pPr>
            <a:r>
              <a:rPr lang="en-US" sz="1700"/>
              <a:t>Simplicity: It is generally easier to design and implement than dynamic programing or complex search algorithms</a:t>
            </a:r>
          </a:p>
          <a:p>
            <a:pPr>
              <a:lnSpc>
                <a:spcPct val="90000"/>
              </a:lnSpc>
            </a:pPr>
            <a:r>
              <a:rPr lang="en-US" sz="1700"/>
              <a:t>Speed: Because it avoids exhaustive searches or back tracking, making them very fast</a:t>
            </a:r>
          </a:p>
          <a:p>
            <a:pPr>
              <a:lnSpc>
                <a:spcPct val="90000"/>
              </a:lnSpc>
            </a:pPr>
            <a:endParaRPr lang="en-US" sz="1700"/>
          </a:p>
        </p:txBody>
      </p:sp>
      <p:pic>
        <p:nvPicPr>
          <p:cNvPr id="7" name="Graphic 6" descr="Dice">
            <a:extLst>
              <a:ext uri="{FF2B5EF4-FFF2-40B4-BE49-F238E27FC236}">
                <a16:creationId xmlns:a16="http://schemas.microsoft.com/office/drawing/2014/main" id="{567EFF1E-1A8A-F872-47D6-A14C141B3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132" y="645106"/>
            <a:ext cx="5247747" cy="5247747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500144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839AEECE-9DE5-285D-B4FD-CBB48FAEDB4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t="6573" r="-2" b="90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07B51A-C236-DA08-8911-6669F9399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>
            <a:normAutofit/>
          </a:bodyPr>
          <a:lstStyle/>
          <a:p>
            <a:r>
              <a:rPr lang="en-US"/>
              <a:t>2D Dynamic Programming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F1621-BFF7-EA7F-C333-D3D82764A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1242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Optimal sub-structure:</a:t>
            </a:r>
          </a:p>
          <a:p>
            <a:pPr lvl="1"/>
            <a:r>
              <a:rPr lang="en-US"/>
              <a:t>An optimal solution to the problem contains optimal solutions to its subproblems</a:t>
            </a:r>
          </a:p>
          <a:p>
            <a:r>
              <a:rPr lang="en-US"/>
              <a:t> Overlapping subproblems:</a:t>
            </a:r>
          </a:p>
          <a:p>
            <a:pPr lvl="1"/>
            <a:r>
              <a:rPr lang="en-US"/>
              <a:t>The same subproblems are solved repeatedly</a:t>
            </a:r>
          </a:p>
        </p:txBody>
      </p:sp>
    </p:spTree>
    <p:extLst>
      <p:ext uri="{BB962C8B-B14F-4D97-AF65-F5344CB8AC3E}">
        <p14:creationId xmlns:p14="http://schemas.microsoft.com/office/powerpoint/2010/main" val="997305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FBFAF-E780-9231-772B-33CA5610D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20" y="120713"/>
            <a:ext cx="9905998" cy="1905000"/>
          </a:xfrm>
        </p:spPr>
        <p:txBody>
          <a:bodyPr/>
          <a:lstStyle/>
          <a:p>
            <a:r>
              <a:rPr lang="en-US"/>
              <a:t>Comparison Table of All Methods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ABBADA6-BB72-1B62-DF85-1CB68D2CE6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8174040"/>
              </p:ext>
            </p:extLst>
          </p:nvPr>
        </p:nvGraphicFramePr>
        <p:xfrm>
          <a:off x="77482" y="1950720"/>
          <a:ext cx="1207807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582">
                  <a:extLst>
                    <a:ext uri="{9D8B030D-6E8A-4147-A177-3AD203B41FA5}">
                      <a16:colId xmlns:a16="http://schemas.microsoft.com/office/drawing/2014/main" val="701483998"/>
                    </a:ext>
                  </a:extLst>
                </a:gridCol>
                <a:gridCol w="1210423">
                  <a:extLst>
                    <a:ext uri="{9D8B030D-6E8A-4147-A177-3AD203B41FA5}">
                      <a16:colId xmlns:a16="http://schemas.microsoft.com/office/drawing/2014/main" val="1525723036"/>
                    </a:ext>
                  </a:extLst>
                </a:gridCol>
                <a:gridCol w="1962849">
                  <a:extLst>
                    <a:ext uri="{9D8B030D-6E8A-4147-A177-3AD203B41FA5}">
                      <a16:colId xmlns:a16="http://schemas.microsoft.com/office/drawing/2014/main" val="745634411"/>
                    </a:ext>
                  </a:extLst>
                </a:gridCol>
                <a:gridCol w="3364525">
                  <a:extLst>
                    <a:ext uri="{9D8B030D-6E8A-4147-A177-3AD203B41FA5}">
                      <a16:colId xmlns:a16="http://schemas.microsoft.com/office/drawing/2014/main" val="556264978"/>
                    </a:ext>
                  </a:extLst>
                </a:gridCol>
                <a:gridCol w="3478696">
                  <a:extLst>
                    <a:ext uri="{9D8B030D-6E8A-4147-A177-3AD203B41FA5}">
                      <a16:colId xmlns:a16="http://schemas.microsoft.com/office/drawing/2014/main" val="2730552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Algorithms: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Running time: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Biotech 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Weaknesses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6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Divide and Conquer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O(n log(n))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Hierarchical genomic region detection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Highly efficient for non-overlapping problems; often leads to O(n log(n))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Inefficient if subproblems overlap; high recursion overhead.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307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Greedy (Kadane’s Algorithm)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biosensor or EEG analysis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Extremely fast at O(n) and simple to implement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Does not guarantee optimality for all problems; once a choice is made it can’t be undone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030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2D Dynamic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O(m *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Hi-C maps, spatial tissue signal detection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Guarantees the globally optimal solution; handles complex dependencies and scoring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 time and space complexity at O(n^2); impractical for very large inputs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47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5005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88BCF-9A32-5826-959C-761B3EF1E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643" y="609600"/>
            <a:ext cx="6743767" cy="1905000"/>
          </a:xfrm>
        </p:spPr>
        <p:txBody>
          <a:bodyPr>
            <a:normAutofit/>
          </a:bodyPr>
          <a:lstStyle/>
          <a:p>
            <a:r>
              <a:rPr lang="en-US"/>
              <a:t>Real Biotech Datasets</a:t>
            </a:r>
          </a:p>
        </p:txBody>
      </p:sp>
      <p:pic>
        <p:nvPicPr>
          <p:cNvPr id="6" name="Picture 5" descr="Financial graphs on a dark display">
            <a:extLst>
              <a:ext uri="{FF2B5EF4-FFF2-40B4-BE49-F238E27FC236}">
                <a16:creationId xmlns:a16="http://schemas.microsoft.com/office/drawing/2014/main" id="{F4A6C51D-6E8B-B3AB-F9CB-691F4822BB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241" r="37049"/>
          <a:stretch>
            <a:fillRect/>
          </a:stretch>
        </p:blipFill>
        <p:spPr>
          <a:xfrm>
            <a:off x="257590" y="10"/>
            <a:ext cx="3479523" cy="6857990"/>
          </a:xfrm>
          <a:prstGeom prst="rect">
            <a:avLst/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5BDF6-D930-E194-4F94-DD7602569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643" y="1906508"/>
            <a:ext cx="7046844" cy="341574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GEO, ENCODE, TCGA, 4DN, and more</a:t>
            </a:r>
          </a:p>
          <a:p>
            <a:r>
              <a:rPr lang="en-US"/>
              <a:t>Publicly available genomic data with large sample sizes</a:t>
            </a:r>
          </a:p>
          <a:p>
            <a:r>
              <a:rPr lang="en-US"/>
              <a:t>Used for study of DNA, such as mutation hotspots and sequencing</a:t>
            </a:r>
          </a:p>
          <a:p>
            <a:r>
              <a:rPr lang="en-US"/>
              <a:t>Some sources work better for certain algorithms</a:t>
            </a:r>
          </a:p>
          <a:p>
            <a:pPr lvl="1"/>
            <a:r>
              <a:rPr lang="en-US"/>
              <a:t>i.e. HI-C Datasets are in the form of 2d Matrices</a:t>
            </a:r>
          </a:p>
        </p:txBody>
      </p:sp>
    </p:spTree>
    <p:extLst>
      <p:ext uri="{BB962C8B-B14F-4D97-AF65-F5344CB8AC3E}">
        <p14:creationId xmlns:p14="http://schemas.microsoft.com/office/powerpoint/2010/main" val="195540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A5DD8-B652-0454-DEE8-3BAEF44BD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Synthetic Dataset Generation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4BF2897-9694-12F0-F7D3-7F7E0A09CB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9293892"/>
              </p:ext>
            </p:extLst>
          </p:nvPr>
        </p:nvGraphicFramePr>
        <p:xfrm>
          <a:off x="1141413" y="2666999"/>
          <a:ext cx="9905998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33730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B5F0F39-CE44-4E7E-9C48-029B73288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DD550B-D89B-8946-C9F6-F7092102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4363271"/>
            <a:ext cx="8676222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Algorithm Demonstrations</a:t>
            </a:r>
            <a:br>
              <a:rPr lang="en-US" sz="3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</a:br>
            <a:r>
              <a:rPr lang="en-US" sz="3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 (1D DATASETS)</a:t>
            </a:r>
          </a:p>
        </p:txBody>
      </p:sp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A14DD535-0828-494C-5B59-C8BF69A79B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73" y="526797"/>
            <a:ext cx="4524738" cy="3393554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7CB58ADE-FDD3-4DF5-D70D-4345156520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489" y="526797"/>
            <a:ext cx="4524738" cy="339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60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72994-D29D-13E0-2962-A15C976B3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419" y="238420"/>
            <a:ext cx="9905998" cy="1905000"/>
          </a:xfrm>
        </p:spPr>
        <p:txBody>
          <a:bodyPr/>
          <a:lstStyle/>
          <a:p>
            <a:r>
              <a:rPr lang="en-US"/>
              <a:t>ALGORITHM DEMONSTRATIONS (2D DATASETS)</a:t>
            </a:r>
          </a:p>
        </p:txBody>
      </p:sp>
      <p:pic>
        <p:nvPicPr>
          <p:cNvPr id="9" name="Picture 8" descr="A graph with a line&#10;&#10;AI-generated content may be incorrect.">
            <a:extLst>
              <a:ext uri="{FF2B5EF4-FFF2-40B4-BE49-F238E27FC236}">
                <a16:creationId xmlns:a16="http://schemas.microsoft.com/office/drawing/2014/main" id="{2C0AF108-A56B-F2AE-34B1-9D132D2B4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98" y="2052885"/>
            <a:ext cx="5473307" cy="41049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4A8CEA-E54D-2ABA-E671-22C252FC18D3}"/>
              </a:ext>
            </a:extLst>
          </p:cNvPr>
          <p:cNvSpPr txBox="1"/>
          <p:nvPr/>
        </p:nvSpPr>
        <p:spPr>
          <a:xfrm>
            <a:off x="6989273" y="2623254"/>
            <a:ext cx="4119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Array sizes: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30x30 (900 elements)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50x50 (2500 elements)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80x80 (6400 elements)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7751D-2C71-3ADC-3327-83DEA66AD083}"/>
              </a:ext>
            </a:extLst>
          </p:cNvPr>
          <p:cNvSpPr txBox="1"/>
          <p:nvPr/>
        </p:nvSpPr>
        <p:spPr>
          <a:xfrm>
            <a:off x="6989273" y="4085005"/>
            <a:ext cx="41193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2D Maximum Subarray is O(n</a:t>
            </a:r>
            <a:r>
              <a:rPr lang="en-US" baseline="30000"/>
              <a:t>3</a:t>
            </a:r>
            <a:r>
              <a:rPr lang="en-US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Much more visible on this example</a:t>
            </a:r>
          </a:p>
        </p:txBody>
      </p:sp>
    </p:spTree>
    <p:extLst>
      <p:ext uri="{BB962C8B-B14F-4D97-AF65-F5344CB8AC3E}">
        <p14:creationId xmlns:p14="http://schemas.microsoft.com/office/powerpoint/2010/main" val="2881925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6920-5D00-E483-2215-32FDC2993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 +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A8F5B-D61D-0C51-67A5-D5F7CC4ED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5123585" cy="31242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Kadane’s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 Algorithm is confirmed to be most efficient by experiments</a:t>
            </a:r>
          </a:p>
          <a:p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Can be used in a variety of 1d and 2d applications (as part of 2D Expansion)</a:t>
            </a:r>
          </a:p>
          <a:p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</a:rPr>
              <a:t>Multiple uses in the biotech field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Others are still situationally useful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1051D277-F4B2-BE2F-7C87-7C6EF45CF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259" y="2397646"/>
            <a:ext cx="4524738" cy="339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146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9936A-0CAC-64B1-9226-9E8308432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Sources cited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AA3A6-A67C-3175-3581-24239AF1D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50540"/>
            <a:ext cx="9905998" cy="3124201"/>
          </a:xfrm>
        </p:spPr>
        <p:txBody>
          <a:bodyPr/>
          <a:lstStyle/>
          <a:p>
            <a:pPr lvl="1"/>
            <a:r>
              <a:rPr lang="en-US" dirty="0"/>
              <a:t>Generative AI (ChatGPT) was used in the process of formatting and doing final touch-ups on the program.</a:t>
            </a:r>
          </a:p>
          <a:p>
            <a:pPr lvl="1"/>
            <a:r>
              <a:rPr lang="en-US" dirty="0">
                <a:effectLst/>
              </a:rPr>
              <a:t>Levitin, A. </a:t>
            </a:r>
            <a:r>
              <a:rPr lang="en-US" i="1" dirty="0">
                <a:effectLst/>
              </a:rPr>
              <a:t>Introduction to The Design and Analysis of Algorithms.</a:t>
            </a:r>
            <a:r>
              <a:rPr lang="en-US" dirty="0">
                <a:effectLst/>
              </a:rPr>
              <a:t> Pearson, 2012, 3</a:t>
            </a:r>
            <a:r>
              <a:rPr lang="en-US" baseline="30000" dirty="0">
                <a:effectLst/>
              </a:rPr>
              <a:t>rd</a:t>
            </a:r>
            <a:r>
              <a:rPr lang="en-US" dirty="0">
                <a:effectLst/>
              </a:rPr>
              <a:t> Edition.</a:t>
            </a:r>
          </a:p>
        </p:txBody>
      </p:sp>
    </p:spTree>
    <p:extLst>
      <p:ext uri="{BB962C8B-B14F-4D97-AF65-F5344CB8AC3E}">
        <p14:creationId xmlns:p14="http://schemas.microsoft.com/office/powerpoint/2010/main" val="371028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E305D-0645-51D5-BA7D-640F76D64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3879" y="2478066"/>
            <a:ext cx="3131505" cy="1905000"/>
          </a:xfrm>
        </p:spPr>
        <p:txBody>
          <a:bodyPr/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Questions?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144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6a31a46-f4f1-43d4-a06d-8fdfef59ee7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3A10D23869FC4293196FF6316D767D" ma:contentTypeVersion="10" ma:contentTypeDescription="Create a new document." ma:contentTypeScope="" ma:versionID="efbb8e8e471399a1a9ea33285b9edad9">
  <xsd:schema xmlns:xsd="http://www.w3.org/2001/XMLSchema" xmlns:xs="http://www.w3.org/2001/XMLSchema" xmlns:p="http://schemas.microsoft.com/office/2006/metadata/properties" xmlns:ns3="e6a31a46-f4f1-43d4-a06d-8fdfef59ee7d" targetNamespace="http://schemas.microsoft.com/office/2006/metadata/properties" ma:root="true" ma:fieldsID="4ecbd5296ae785db0815c338a60793b0" ns3:_="">
    <xsd:import namespace="e6a31a46-f4f1-43d4-a06d-8fdfef59ee7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a31a46-f4f1-43d4-a06d-8fdfef59ee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E4723C-C588-458B-B3FA-314711EF4A07}">
  <ds:schemaRefs>
    <ds:schemaRef ds:uri="http://purl.org/dc/terms/"/>
    <ds:schemaRef ds:uri="http://purl.org/dc/elements/1.1/"/>
    <ds:schemaRef ds:uri="e6a31a46-f4f1-43d4-a06d-8fdfef59ee7d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FDBD31C-5AFA-47DD-9B2E-69618B799B3D}">
  <ds:schemaRefs>
    <ds:schemaRef ds:uri="e6a31a46-f4f1-43d4-a06d-8fdfef59ee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2A7AAA0-90CC-4246-94CA-301C24BB2D8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6fecaf8-3dc0-4d2c-b8b8-eff0ddea46f0}" enabled="0" method="" siteId="{66fecaf8-3dc0-4d2c-b8b8-eff0ddea46f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942</Words>
  <Application>Microsoft Office PowerPoint</Application>
  <PresentationFormat>Widescreen</PresentationFormat>
  <Paragraphs>109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Century Gothic</vt:lpstr>
      <vt:lpstr>Courier New</vt:lpstr>
      <vt:lpstr>Mesh</vt:lpstr>
      <vt:lpstr>Maximum Subarray and Variants - Biotech</vt:lpstr>
      <vt:lpstr>Maximum Subarray Problem</vt:lpstr>
      <vt:lpstr>Relation To Biotechnology</vt:lpstr>
      <vt:lpstr>Why This Matters in Biotech</vt:lpstr>
      <vt:lpstr>Divide-and-Conquer Method</vt:lpstr>
      <vt:lpstr>Greedy (Kadane's Algorithm)</vt:lpstr>
      <vt:lpstr>2D Dynamic Programming Approach</vt:lpstr>
      <vt:lpstr>Comparison Table of All Methods</vt:lpstr>
      <vt:lpstr>Real Biotech Datasets</vt:lpstr>
      <vt:lpstr>Synthetic Dataset Generation</vt:lpstr>
      <vt:lpstr>Algorithm Demonstrations  (1D DATASETS)</vt:lpstr>
      <vt:lpstr>ALGORITHM DEMONSTRATIONS (2D DATASETS)</vt:lpstr>
      <vt:lpstr>Conclusion + Future Work</vt:lpstr>
      <vt:lpstr>Sources cited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Goss, Lane (legoss42)</dc:creator>
  <cp:lastModifiedBy>Galloway, Patrick (pagalloway42)</cp:lastModifiedBy>
  <cp:revision>2</cp:revision>
  <dcterms:created xsi:type="dcterms:W3CDTF">2025-11-24T23:41:33Z</dcterms:created>
  <dcterms:modified xsi:type="dcterms:W3CDTF">2025-12-01T10:19:48Z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0x0101001E3A10D23869FC4293196FF6316D767D</vt:lpwstr>
  </property>
</Properties>
</file>